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холодильник. Структура зустрічі на бічній панелі.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Expectation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Результати звіту.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vs EfficientNet.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Ready vs custom.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 +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SdWIf46HvvM" TargetMode="External"/><Relationship Id="rId2" Type="http://schemas.openxmlformats.org/officeDocument/2006/relationships/hyperlink" Target="https://www.youtube.com/watch?v=R9NL0towh5k" TargetMode="External"/><Relationship Id="rId3" Type="http://schemas.openxmlformats.org/officeDocument/2006/relationships/hyperlink" Target="https://www.youtube.com/watch?v=q4FZTsQTh0Q" TargetMode="External"/><Relationship Id="rId4" Type="http://schemas.openxmlformats.org/officeDocument/2006/relationships/hyperlink" Target="https://www.paralleldots.com/shelfwatch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22960"/>
            <a:ext cx="7680960" cy="5029200"/>
          </a:xfrm>
          <a:prstGeom prst="roundRect">
            <a:avLst>
              <a:gd name="adj" fmla="val 109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  ·  ПОЛИЦІ ТА ХОЛОДИЛЬНИКИ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Фото холодильника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 звіт по магазинах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 →  Вирішення  →  Скільки коштує  →  Інше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2728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91056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36776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0824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9152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8B3A3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4872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4A90A4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27248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D4DDE4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72968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11296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F0A05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57016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41064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4096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5112" y="3931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9204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93318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074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можна з фото · що від клієнта · підхід · готові vs кастом 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· точність · PoC · архітектура · вартість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12480" y="822960"/>
            <a:ext cx="3246120" cy="5029200"/>
          </a:xfrm>
          <a:prstGeom prst="roundRect">
            <a:avLst>
              <a:gd name="adj" fmla="val 169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6868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Вирішення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6868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Вартість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6868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86800" y="4663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Інше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ПРОБЛЕМА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Фото з візитів уже є. Звіту з полиці — немає.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002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00200"/>
            <a:ext cx="109728" cy="2286000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Ручний обхід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3774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Мерч рахує полицю очима. Повільно і дорого масштабувати на всі магазини.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6002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600200"/>
            <a:ext cx="109728" cy="22860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 без полиці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23774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продажі і візити, але немає факту: що стояло в холодильнику того дня.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600200"/>
            <a:ext cx="109728" cy="2286000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Різні регіони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23774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Важко порівняти мережі і гео по викладці, а не по відчуттях команди.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11480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97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бізнес хоче бачити з фото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Відповідність схемі викладки   ·   Доля полиці бренду   ·   Товарів немає   ·   Чужий / конкурент   ·   % придатних фото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ПРОБЛЕМА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реально можна отримати з фото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0020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00200"/>
            <a:ext cx="3611880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202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Надійно на пілоті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Чи фото придатне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Товари першого ряду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Бренд / сімейство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Груба доля полиці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Чужий товар / конкурент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60020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600200"/>
            <a:ext cx="3611880" cy="109728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9202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Можливо, з похибкою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269748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Точний SKU (смак + об’єм)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Схема «місце в місце»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Відсутність expected SKU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600200"/>
            <a:ext cx="3611880" cy="109728"/>
          </a:xfrm>
          <a:prstGeom prst="rect">
            <a:avLst/>
          </a:prstGeom>
          <a:solidFill>
            <a:srgbClr val="6A7F90"/>
          </a:solidFill>
          <a:ln w="12700">
            <a:solidFill>
              <a:srgbClr val="6A7F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9202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з одного смартфото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69748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Запас «вглиб» полиці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99% як у брошурі вендора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Ідеал без цифрової схеми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ВИРІШЕННЯ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Ланцюжок: від фото до Excel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0020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0B1F33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23160" y="160020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14600" y="2240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160020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2240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240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Впізнати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83880" y="160020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75320" y="2240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104120" y="160020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0B1F33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412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95560" y="2240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3337560"/>
            <a:ext cx="2743200" cy="2651760"/>
          </a:xfrm>
          <a:prstGeom prst="roundRect">
            <a:avLst>
              <a:gd name="adj" fmla="val 206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5568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61288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99616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5336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83664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9384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67712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8B3A3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13432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480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Відповідність схемі викладки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збігається фото зі схемою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383280" y="3337560"/>
            <a:ext cx="2743200" cy="2651760"/>
          </a:xfrm>
          <a:prstGeom prst="roundRect">
            <a:avLst>
              <a:gd name="adj" fmla="val 206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0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95928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41648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79976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25696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64024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9744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48072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8B3A3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93792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Доля полиці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56616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місця займає бренд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263640" y="3337560"/>
            <a:ext cx="2743200" cy="2651760"/>
          </a:xfrm>
          <a:prstGeom prst="roundRect">
            <a:avLst>
              <a:gd name="adj" fmla="val 206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92240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37960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76288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22008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60336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06056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44384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90104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28432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8B3A3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74152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46520" y="4480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Товарів немає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44652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Мали бути — у кадрі немає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144000" y="3337560"/>
            <a:ext cx="2743200" cy="2651760"/>
          </a:xfrm>
          <a:prstGeom prst="roundRect">
            <a:avLst>
              <a:gd name="adj" fmla="val 206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72600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18320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56648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02368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140696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86416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524744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570464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908792" y="37307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8B3A3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954512" y="35661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26880" y="4480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Чужий / конкурент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932688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зі схеми або чужий бренд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ВИРІШЕННЯ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Які підходи використовуємо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3657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D4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D4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Підхід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D4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Навіщо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Перевірка фото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Правила різкості / світла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Відсікти брак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Пошук товарів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/ YOLO11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Обвести пляшки і банки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 товару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 + каталог фото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Схожі етикетки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Полиці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Координати рамок → ряди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Яка полиця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 / метрики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TypeScript-логіка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Збіг, доля, відсутнє, конкурент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Опційно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з етикетки; ChatGPT на складні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Підстраховка, не основа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ВИРІШЕННЯ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Чому не лише YOLO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знаходить товари. EfficientNet каже, який саме це напій на вирізаній пляшці.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194560"/>
            <a:ext cx="128016" cy="868680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3042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є пляшка. Швидко на щільних полицях. Не вчимо одразу на 300 назв.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154680"/>
            <a:ext cx="128016" cy="86868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644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саме за товар. Краще б’є Zero vs звичайна. Новий смак = фото в каталог.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14800"/>
            <a:ext cx="128016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24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Код схеми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«як має бути» і «що на фото». Прозоро для бізнесу.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074920"/>
            <a:ext cx="128016" cy="868680"/>
          </a:xfrm>
          <a:prstGeom prst="rect">
            <a:avLst/>
          </a:prstGeom>
          <a:solidFill>
            <a:srgbClr val="6A7F90"/>
          </a:solidFill>
          <a:ln w="12700">
            <a:solidFill>
              <a:srgbClr val="6A7F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1846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ChatGPT на все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пляшок × тисячі фото — дорого і погано рахує кількість.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ВИРІШЕННЯ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Готові моделі / API vs кастом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297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D4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D4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D4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 клієнта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/ EfficientNet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Архітектура і pretrained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Дообучення на їхніх ХО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Сервер, черга, база,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Стандартний стек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Поля звіту й інтеграції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Схема, доля, відсутнє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Завжди їхні правила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Trax / Vispera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Повний продукт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Дорого, чужий вендор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LLM / OCR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з коробки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Лише assist, не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02920" y="553212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 тримається на каталозі, фото і правилах викладки клієнта — не на «магії моделі».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ВИРІШЕННЯ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потрібно від клієнта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08760"/>
            <a:ext cx="11155680" cy="621792"/>
          </a:xfrm>
          <a:prstGeom prst="rect">
            <a:avLst/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087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візитів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087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Сотні–тисячі кадрів ХО, різні магазини і світло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130552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товарів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13055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/ бренд / назва + кілька фото на товар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752344"/>
            <a:ext cx="11155680" cy="621792"/>
          </a:xfrm>
          <a:prstGeom prst="rect">
            <a:avLst/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52344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викладки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752344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або PDF: що має стояти на полиці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374136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Метадані візиту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3374136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Магазин, регіон, дата, тип обладнання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995928"/>
            <a:ext cx="11155680" cy="621792"/>
          </a:xfrm>
          <a:prstGeom prst="rect">
            <a:avLst/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9592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зйомки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995928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холодильник = 1–2 фронтальні фото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61772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Пріоритет KPI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461772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метрики і критерій успіху пілота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5239512"/>
            <a:ext cx="11155680" cy="621792"/>
          </a:xfrm>
          <a:prstGeom prst="rect">
            <a:avLst/>
          </a:prstGeom>
          <a:solidFill>
            <a:srgbClr val="F7FBFD"/>
          </a:solidFill>
          <a:ln w="12700">
            <a:solidFill>
              <a:srgbClr val="F7FB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239512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Розмітка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523951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Робимо ми (у вартості) або дає клієнт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ВИРІШЕННЯ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і розмітка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5448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55448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554480"/>
            <a:ext cx="5486400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554480"/>
            <a:ext cx="5486400" cy="109728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Як організовуємо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Спочатку рамки «товар»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Потім підпис на crop: бренд або SKU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Каталог: 5–20 фото на товар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Train/test ділимо по магазинах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Далі — лише складні випадки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Обсяги і гроші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PoC: 300–800 розмічених фото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Стійкіший пілот: 1–3 тис. фото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1 кадр = десятки пляшок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Розмітка часто $1.5–5k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Це години людей, не ліцензія AI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ВИРІШЕННЯ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і архітектура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5448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554480"/>
            <a:ext cx="5486400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· 4–8 тижнів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Напої в холодильниках, 20–50 магазинів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KPI: фото ок, бренд, груба доля / схема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Excel; 5–10% — ручна перевірка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Точний SKU і жорстка схема — фаза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Питання: чи виходить корисний BI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554480"/>
            <a:ext cx="5486400" cy="109728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Архітектура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→ черга → перевірка → YOLO → назва → схема → база → Excel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32461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NestJS / Fastify + BullMQ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Моделі в Node після експорту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Фото у сховищі, звіт у Postgres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Train рідко: Python / Roboflow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ВАРТІСТЬ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Пілот і вартість за фото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5448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83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 разово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~$10–30k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Розмітка $1.5–5k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Розробка $8–25k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Навчання $0.2–1k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783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пілота / міс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сотні $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Хмара і інференс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при 10–50 тис. фото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Підтримка каталогу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2440" y="155448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783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1 фото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$0.01–0.05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21040" y="301752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Compute моделей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Собівартість, не прайс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клієнту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4406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Продаємо звіт з фото візиту. Точна ціна — після 6 відповідей і зразків фото.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ВАРТІСТЬ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Чому розмітка окремим рядком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5448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810512"/>
            <a:ext cx="438912" cy="438912"/>
          </a:xfrm>
          <a:prstGeom prst="ellipse">
            <a:avLst/>
          </a:prstGeom>
          <a:solidFill>
            <a:srgbClr val="F3E0D4"/>
          </a:solidFill>
          <a:ln w="12700">
            <a:solidFill>
              <a:srgbClr val="F3E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810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166420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роблять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19933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Обводять пляшки на фото і підписують товар — «правильна відповідь» для навчання.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07792"/>
            <a:ext cx="438912" cy="438912"/>
          </a:xfrm>
          <a:prstGeom prst="ellipse">
            <a:avLst/>
          </a:prstGeom>
          <a:solidFill>
            <a:srgbClr val="F3E0D4"/>
          </a:solidFill>
          <a:ln w="12700">
            <a:solidFill>
              <a:srgbClr val="F3E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07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276148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Чому треба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0906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з інтернету не знає ваші етикетки, світло і кут зйомки.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05072"/>
            <a:ext cx="438912" cy="438912"/>
          </a:xfrm>
          <a:prstGeom prst="ellipse">
            <a:avLst/>
          </a:prstGeom>
          <a:solidFill>
            <a:srgbClr val="F3E0D4"/>
          </a:solidFill>
          <a:ln w="12700">
            <a:solidFill>
              <a:srgbClr val="F3E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05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85876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Звідки $1.5–5k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1879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Тисячі фото × десятки товарів × хвилини роботи = сотні годин.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84632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102352"/>
            <a:ext cx="438912" cy="438912"/>
          </a:xfrm>
          <a:prstGeom prst="ellipse">
            <a:avLst/>
          </a:prstGeom>
          <a:solidFill>
            <a:srgbClr val="F3E0D4"/>
          </a:solidFill>
          <a:ln w="12700">
            <a:solidFill>
              <a:srgbClr val="F3E0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02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95604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Як дешевше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17320" y="52852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магазинів; спочатку бренд; клієнт дає вже підписані фото.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ІНШЕ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Як рахуємо точність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одним відсотком «магії», а метриками звіту на відкладених фото.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57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Придатне фото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знімків можна аналізувати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товарів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7889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видимих пляшок першого ряду знайшли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20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/ товар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35204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правильно назвали на crop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51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полиці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425196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Наскільки % близький до ручної перевірки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/ відсутнє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49834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Збіг зі схемою; «мало бути — немає»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ІНШЕ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Щоб оцінити ціну — шість питань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54480"/>
            <a:ext cx="640080" cy="566928"/>
          </a:xfrm>
          <a:prstGeom prst="roundRect">
            <a:avLst>
              <a:gd name="adj" fmla="val 806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544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155448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фото на місяць?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2267712"/>
            <a:ext cx="640080" cy="566928"/>
          </a:xfrm>
          <a:prstGeom prst="roundRect">
            <a:avLst>
              <a:gd name="adj" fmla="val 806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6771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26771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товарів? Бренд чи точний смак і об’єм?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2980944"/>
            <a:ext cx="640080" cy="566928"/>
          </a:xfrm>
          <a:prstGeom prst="roundRect">
            <a:avLst>
              <a:gd name="adj" fmla="val 806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8094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2980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холодильники чи ще звичайні полиці?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640080" cy="566928"/>
          </a:xfrm>
          <a:prstGeom prst="roundRect">
            <a:avLst>
              <a:gd name="adj" fmla="val 806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941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694176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є схема викладки у файлі / системі?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407408"/>
            <a:ext cx="640080" cy="566928"/>
          </a:xfrm>
          <a:prstGeom prst="roundRect">
            <a:avLst>
              <a:gd name="adj" fmla="val 806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4074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Достатньо Excel чи потрібна інтеграція?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5120640"/>
            <a:ext cx="640080" cy="566928"/>
          </a:xfrm>
          <a:prstGeom prst="roundRect">
            <a:avLst>
              <a:gd name="adj" fmla="val 806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12064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D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512064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Пілот: скільки магазинів, дедлайн, бюджет?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6032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ІНШЕ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Готові рішення на ринку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670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5448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9019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373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1288" y="19019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17373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5336" y="19019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91056" y="17373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обходу полиці</a:t>
            </a:r>
            <a:endParaRPr lang="en-US" sz="14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8138160" y="1691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youtube.com/watch?v=SdWIf46HvvM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26060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2953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2788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" y="2953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2788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5336" y="295351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91056" y="278892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Vispera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Мобільний обхід і звіт</a:t>
            </a:r>
            <a:endParaRPr lang="en-US" sz="1400" dirty="0"/>
          </a:p>
        </p:txBody>
      </p:sp>
      <p:sp>
        <p:nvSpPr>
          <p:cNvPr id="30" name="Text 28">
            <a:hlinkClick r:id="rId2" tooltip=""/>
          </p:cNvPr>
          <p:cNvSpPr/>
          <p:nvPr/>
        </p:nvSpPr>
        <p:spPr>
          <a:xfrm>
            <a:off x="813816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youtube.com/watch?v=R9NL0towh5k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65760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400507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84048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1288" y="400507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7008" y="384048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45336" y="400507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91056" y="384048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3794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Shelfsight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46320" y="3794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Камери на полицях</a:t>
            </a:r>
            <a:endParaRPr lang="en-US" sz="1400" dirty="0"/>
          </a:p>
        </p:txBody>
      </p:sp>
      <p:sp>
        <p:nvSpPr>
          <p:cNvPr id="40" name="Text 38">
            <a:hlinkClick r:id="rId3" tooltip=""/>
          </p:cNvPr>
          <p:cNvSpPr/>
          <p:nvPr/>
        </p:nvSpPr>
        <p:spPr>
          <a:xfrm>
            <a:off x="8138160" y="3794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youtube.com/watch?v=q4FZTsQTh0Q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470916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505663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489204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1288" y="505663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07008" y="489204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45336" y="505663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91056" y="489204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ShelfWatch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846320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Сторінка ParallelDots</a:t>
            </a:r>
            <a:endParaRPr lang="en-US" sz="1400" dirty="0"/>
          </a:p>
        </p:txBody>
      </p:sp>
      <p:sp>
        <p:nvSpPr>
          <p:cNvPr id="50" name="Text 48">
            <a:hlinkClick r:id="rId4" tooltip=""/>
          </p:cNvPr>
          <p:cNvSpPr/>
          <p:nvPr/>
        </p:nvSpPr>
        <p:spPr>
          <a:xfrm>
            <a:off x="8138160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paralleldots.com/shelfwatch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F5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0"/>
            <a:ext cx="11786616" cy="109728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2296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7FBFD"/>
          </a:solidFill>
          <a:ln w="12700">
            <a:solidFill>
              <a:srgbClr val="C5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ДАЛІ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Наступні кроки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68680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2728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8448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36776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82496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0824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66544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8B3A3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4A90A4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D4DDE4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57016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F0A05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02736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41064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86784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2F6F92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E8B8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93208" y="2359152"/>
            <a:ext cx="256032" cy="658368"/>
          </a:xfrm>
          <a:prstGeom prst="roundRect">
            <a:avLst>
              <a:gd name="adj" fmla="val 14286"/>
            </a:avLst>
          </a:prstGeom>
          <a:solidFill>
            <a:srgbClr val="1F6B4A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38928" y="2194560"/>
            <a:ext cx="164592" cy="201168"/>
          </a:xfrm>
          <a:prstGeom prst="roundRect">
            <a:avLst>
              <a:gd name="adj" fmla="val 16667"/>
            </a:avLst>
          </a:prstGeom>
          <a:solidFill>
            <a:srgbClr val="EAF2F7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10896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15010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3375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Відповіді на шість питань + 20–50 фото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38404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Оцінка: скоуп пілота і коридор ціни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4343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Старт: каталог, схема, правила зйомки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" y="4846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Демо на ваших фото → Excel → go / no-go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продаємо нейромережу — продаємо регулярний звіт по магазинах з фото візиту.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" y="6355080"/>
            <a:ext cx="11155680" cy="41148"/>
          </a:xfrm>
          <a:prstGeom prst="rect">
            <a:avLst/>
          </a:prstGeom>
          <a:solidFill>
            <a:srgbClr val="B8D4E6"/>
          </a:solidFill>
          <a:ln w="12700">
            <a:solidFill>
              <a:srgbClr val="B8D4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6396228"/>
            <a:ext cx="11155680" cy="10973"/>
          </a:xfrm>
          <a:prstGeom prst="rect">
            <a:avLst/>
          </a:prstGeom>
          <a:solidFill>
            <a:srgbClr val="2F6F92"/>
          </a:solidFill>
          <a:ln w="12700">
            <a:solidFill>
              <a:srgbClr val="2F6F9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 → звіт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241280" y="65105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 полиці → звіт по магазинах</dc:title>
  <dc:subject>Проблема → вирішення → вартість → інше</dc:subject>
  <dc:creator>MindCRM</dc:creator>
  <cp:lastModifiedBy>MindCRM</cp:lastModifiedBy>
  <cp:revision>1</cp:revision>
  <dcterms:created xsi:type="dcterms:W3CDTF">2026-09-16T10:22:27Z</dcterms:created>
  <dcterms:modified xsi:type="dcterms:W3CDTF">2026-09-16T10:22:27Z</dcterms:modified>
</cp:coreProperties>
</file>